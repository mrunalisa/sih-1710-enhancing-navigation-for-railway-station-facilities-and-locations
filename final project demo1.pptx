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0" r:id="rId4"/>
    <p:sldId id="267" r:id="rId5"/>
    <p:sldId id="262" r:id="rId6"/>
    <p:sldId id="275" r:id="rId7"/>
    <p:sldId id="263" r:id="rId8"/>
    <p:sldId id="261" r:id="rId9"/>
    <p:sldId id="265" r:id="rId10"/>
    <p:sldId id="273" r:id="rId11"/>
    <p:sldId id="274" r:id="rId12"/>
    <p:sldId id="276" r:id="rId13"/>
    <p:sldId id="270" r:id="rId14"/>
    <p:sldId id="266" r:id="rId15"/>
    <p:sldId id="264" r:id="rId16"/>
    <p:sldId id="268" r:id="rId17"/>
    <p:sldId id="269" r:id="rId18"/>
    <p:sldId id="259" r:id="rId19"/>
    <p:sldId id="272" r:id="rId2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>
        <p:scale>
          <a:sx n="75" d="100"/>
          <a:sy n="75" d="100"/>
        </p:scale>
        <p:origin x="4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E0BB5-C7B9-05EF-37AC-291A3400F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1EDF6-5FC2-D679-F2EA-8930F8010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B2142-ED5F-77DB-DC17-D988EC804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016C4-C879-BF77-EF2F-DE89615DF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F0E6F-89EF-B391-A6E3-5E0189EC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91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97BC-6F23-0861-010F-7C7FF12A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8E805-6139-0907-2899-34FDBF8AF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0E612-59FF-4E6F-F07E-405528E3B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84769-C581-839C-5803-6282C55F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8223F-75F3-C1A6-54E1-241AB1C41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87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4693-6CF9-CEC6-984C-3FD6EC96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2DB24B-D1A2-FC02-CEB5-2F315AE3B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FABAE-5FDA-BBCB-9ADF-8595B6C0E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26B1A-41AF-17C8-1567-624DFB75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0B58B-FC05-8093-B854-3525F575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87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4236F-2028-76F9-8892-247042C2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C76DA-EB0E-466C-79EC-BF18DA316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A4F78-C890-7BDD-F2F3-F40E561F6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94369-1424-5A6E-DB26-47E20C0C7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52D3F-9A05-E89D-F32A-B98F93393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A5ADE-0229-C3AA-2F57-E5D45C4F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3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3BFB-D1D5-7F33-E41F-31BD2169A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F07F4-EAD8-523E-87C5-9CAC106B1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4FB22-8613-C910-CF67-88C482DA4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42930-827F-64A5-76F4-9FB044791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774BA-066A-9A67-5B00-76E680969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BC0A82-5834-966E-40FD-3A12E6D2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CCAE06-CDBD-A80F-ED90-5E68F42D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65AF5B-3F21-A417-F34C-71F3063B0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3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0BFF2-328D-FDA5-8457-930A55945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0D774E-9FB5-AD3B-85E1-E4F5EE0A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232FA-CE5E-6CCA-CD66-AC405BA79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6DBD04-FB58-AF5A-3DC0-A23C17A8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2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49043-6C32-296C-CC7F-C6B324FA0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831E8-6C68-26A7-AC7C-DE6C30D1E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B6580-FD98-88AF-E0E8-02988D98A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790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5BD2-7F56-3C92-1442-F3A19DC50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862FA-3C58-FA00-2699-563CCD953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D0410-79D0-DE87-9F1B-C57FBA62D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06361-CA66-3A2A-D397-06155B6E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29B4C-EF59-E0ED-4710-23FEE096D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1A37F-9F06-90CF-7A31-1F3F4405C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0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71087-DA6E-110C-289A-789A373FC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B94DF6-C569-5253-7847-F7589859B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C8213-480F-0E7B-350C-A30A9BD5F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3053B-81FA-2069-9FAA-83FFCFBEF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84D74-506B-8FD0-43C5-B2E64369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54452-DCE0-A2A3-29A7-9F2E6C547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4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5601-A617-3436-A7F5-C0E231E5D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74416B-C3DE-9C55-0DAB-58F9F5E41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AB76-3A49-E52F-DDF8-60E61E900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8FD04-A06D-5FBD-ACE4-1110BB1F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F0F78-5669-9AD8-0CD9-B3DD72550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3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7A262-6744-3FD7-5161-B18B24A397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BD870-C240-100A-BD2E-8DF742EDB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14600-F46D-B7E1-43F2-830E4964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2A6F1-4FBB-BA8D-1689-E57FA0B4E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0961-EC2B-535A-A1F7-D91FD4066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59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58D7FC-431B-9431-2E7A-C8AF2229F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251AC-C83D-F556-309C-299A0741F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8A229-BECB-FA0F-C25B-4B5024F7D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0FB9A-A01F-4D0B-B92B-B4BF3E327EAE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1A70E-ED05-DA4E-B389-46DDD8B05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67AAF-1D9D-A486-0E1F-D4333565A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2A06E-FD01-4319-9BA2-A5A831CB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84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docs" TargetMode="External"/><Relationship Id="rId7" Type="http://schemas.openxmlformats.org/officeDocument/2006/relationships/image" Target="../media/image2.png"/><Relationship Id="rId2" Type="http://schemas.openxmlformats.org/officeDocument/2006/relationships/hyperlink" Target="https://developers.google.com/a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android.com/studio" TargetMode="External"/><Relationship Id="rId5" Type="http://schemas.openxmlformats.org/officeDocument/2006/relationships/hyperlink" Target="https://www.researchgate.net/publication/329703408_Indoor_Navigation_Systems" TargetMode="External"/><Relationship Id="rId4" Type="http://schemas.openxmlformats.org/officeDocument/2006/relationships/hyperlink" Target="https://theory.stanford.edu/~amitp/GameProgramming/AStarComparison.htm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303201"/>
            <a:ext cx="1188769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Project  Stage – I  </a:t>
            </a: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      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>
                <a:ln>
                  <a:noFill/>
                </a:ln>
                <a:solidFill>
                  <a:srgbClr val="993300"/>
                </a:solidFill>
                <a:effectLst/>
                <a:latin typeface="Cambria" panose="02040503050406030204" pitchFamily="18" charset="0"/>
              </a:rPr>
              <a:t>  “SIH-1710: Enhancing Navigation for Railway Station Facilities and Locations”</a:t>
            </a:r>
            <a:endParaRPr lang="en-US" sz="2800" b="1" dirty="0">
              <a:solidFill>
                <a:srgbClr val="993300"/>
              </a:solidFill>
              <a:latin typeface="Ajile"/>
            </a:endParaRPr>
          </a:p>
          <a:p>
            <a:pPr marL="0" marR="0" lvl="0" indent="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1" descr="SES Log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968" y="3460181"/>
            <a:ext cx="2370064" cy="207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524113" y="5369859"/>
            <a:ext cx="7567841" cy="118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cs typeface="Arial" panose="020B0604020202020204" pitchFamily="34" charset="0"/>
              </a:rPr>
              <a:t>Department of </a:t>
            </a:r>
            <a:r>
              <a:rPr lang="en-US" sz="2000" b="1" dirty="0">
                <a:solidFill>
                  <a:srgbClr val="000000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Computer Science and Engineering(Data Science)</a:t>
            </a:r>
            <a:endParaRPr kumimoji="0" lang="en-US" sz="2200" b="1" i="0" u="none" strike="noStrike" cap="none" normalizeH="0" baseline="0" dirty="0">
              <a:ln>
                <a:noFill/>
              </a:ln>
              <a:solidFill>
                <a:srgbClr val="993300"/>
              </a:solidFill>
              <a:effectLst/>
              <a:latin typeface="Ajile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The Shirpur Education Society’s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R. C. Patel Institute of Technology, Shirpur - 425405.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[2024-25]</a:t>
            </a: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Parallelogram 6"/>
          <p:cNvSpPr/>
          <p:nvPr/>
        </p:nvSpPr>
        <p:spPr>
          <a:xfrm flipV="1">
            <a:off x="99607" y="35628"/>
            <a:ext cx="11887694" cy="245216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>
            <a:off x="99607" y="6585690"/>
            <a:ext cx="11887693" cy="272310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5766BA-7027-F23B-5D3F-0D1467BC966A}"/>
              </a:ext>
            </a:extLst>
          </p:cNvPr>
          <p:cNvSpPr txBox="1"/>
          <p:nvPr/>
        </p:nvSpPr>
        <p:spPr>
          <a:xfrm>
            <a:off x="2213111" y="1548062"/>
            <a:ext cx="75678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dirty="0">
                <a:ln>
                  <a:noFill/>
                </a:ln>
                <a:solidFill>
                  <a:srgbClr val="993300"/>
                </a:solidFill>
                <a:effectLst/>
                <a:latin typeface="Ajile"/>
                <a:ea typeface="Times New Roman" panose="02020603050405020304" pitchFamily="18" charset="0"/>
              </a:rPr>
              <a:t> </a:t>
            </a:r>
            <a:r>
              <a:rPr kumimoji="0" 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By  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1" dirty="0">
                <a:latin typeface="Cambria" panose="02040503050406030204" pitchFamily="18" charset="0"/>
                <a:ea typeface="Times New Roman" panose="02020603050405020304" pitchFamily="18" charset="0"/>
              </a:rPr>
              <a:t>                    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1.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Harshal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Vishnubhagwan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Gaikwad (221106020)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</a:rPr>
              <a:t>     2. Nomesh Ravindra Kirange(221106022)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</a:rPr>
              <a:t>         3. </a:t>
            </a:r>
            <a:r>
              <a:rPr lang="en-US" sz="1800" dirty="0" err="1">
                <a:solidFill>
                  <a:srgbClr val="800000"/>
                </a:solidFill>
                <a:latin typeface="Cambria" panose="02040503050406030204" pitchFamily="18" charset="0"/>
              </a:rPr>
              <a:t>Mrunali</a:t>
            </a:r>
            <a: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</a:rPr>
              <a:t>   Ravindra </a:t>
            </a:r>
            <a:r>
              <a:rPr lang="en-US" sz="1800" dirty="0" err="1">
                <a:solidFill>
                  <a:srgbClr val="800000"/>
                </a:solidFill>
                <a:latin typeface="Cambria" panose="02040503050406030204" pitchFamily="18" charset="0"/>
              </a:rPr>
              <a:t>Badgujar</a:t>
            </a:r>
            <a: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</a:rPr>
              <a:t>(231206001) 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800000"/>
                </a:solidFill>
                <a:latin typeface="Cambria" panose="02040503050406030204" pitchFamily="18" charset="0"/>
              </a:rPr>
              <a:t>4. Tejas Rajendra Jadhav(221106037)  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  Under the Guidance of</a:t>
            </a:r>
          </a:p>
          <a:p>
            <a:pPr marL="0" marR="0" lvl="0" indent="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  Prof. S. P.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Salunkhe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371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survey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(Flow of the Project)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Phase I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8351238A-DF6B-3505-CA7E-1B21E7ABBDB1}"/>
              </a:ext>
            </a:extLst>
          </p:cNvPr>
          <p:cNvSpPr/>
          <p:nvPr/>
        </p:nvSpPr>
        <p:spPr>
          <a:xfrm>
            <a:off x="1462670" y="423031"/>
            <a:ext cx="9650436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Outline </a:t>
            </a:r>
            <a:endParaRPr lang="en-IN" sz="3600" dirty="0">
              <a:latin typeface="New Roman times"/>
            </a:endParaRPr>
          </a:p>
        </p:txBody>
      </p:sp>
    </p:spTree>
    <p:extLst>
      <p:ext uri="{BB962C8B-B14F-4D97-AF65-F5344CB8AC3E}">
        <p14:creationId xmlns:p14="http://schemas.microsoft.com/office/powerpoint/2010/main" val="3632938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25C4E3F-2131-ED30-AA21-98CE0FAA6219}"/>
              </a:ext>
            </a:extLst>
          </p:cNvPr>
          <p:cNvSpPr/>
          <p:nvPr/>
        </p:nvSpPr>
        <p:spPr>
          <a:xfrm>
            <a:off x="1500050" y="463822"/>
            <a:ext cx="9650436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Introduction </a:t>
            </a:r>
            <a:endParaRPr lang="en-IN" sz="3600" dirty="0">
              <a:latin typeface="New Roman times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AFA748-E975-7748-7D79-98F6D1C65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New Roman times"/>
              </a:rPr>
              <a:t> </a:t>
            </a:r>
            <a:r>
              <a:rPr lang="en-US" sz="2400" dirty="0">
                <a:latin typeface="New Roman times"/>
              </a:rPr>
              <a:t>Railway stations are large and complex, making navigation difficult.</a:t>
            </a:r>
          </a:p>
          <a:p>
            <a:pPr algn="just"/>
            <a:r>
              <a:rPr lang="en-US" sz="2400" dirty="0">
                <a:latin typeface="New Roman times"/>
              </a:rPr>
              <a:t> Existing methods like static maps and signboards are inefficient.</a:t>
            </a:r>
          </a:p>
          <a:p>
            <a:pPr algn="just"/>
            <a:r>
              <a:rPr lang="en-US" sz="2400" dirty="0">
                <a:latin typeface="New Roman times"/>
              </a:rPr>
              <a:t> Augmented Reality (AR) can provide real-time indoor navigation.</a:t>
            </a:r>
          </a:p>
          <a:p>
            <a:pPr algn="just"/>
            <a:r>
              <a:rPr lang="en-US" sz="2400" dirty="0">
                <a:latin typeface="New Roman times"/>
              </a:rPr>
              <a:t> Our solution uses </a:t>
            </a:r>
            <a:r>
              <a:rPr lang="en-US" sz="2400" dirty="0" err="1">
                <a:latin typeface="New Roman times"/>
              </a:rPr>
              <a:t>ARCore</a:t>
            </a:r>
            <a:r>
              <a:rPr lang="en-US" sz="2400" dirty="0">
                <a:latin typeface="New Roman times"/>
              </a:rPr>
              <a:t> for real-time path guidance.</a:t>
            </a:r>
          </a:p>
          <a:p>
            <a:endParaRPr lang="en-IN" dirty="0"/>
          </a:p>
        </p:txBody>
      </p:sp>
      <p:pic>
        <p:nvPicPr>
          <p:cNvPr id="2050" name="Picture 2" descr="Indoor mapping and navigation for Train Stations">
            <a:extLst>
              <a:ext uri="{FF2B5EF4-FFF2-40B4-BE49-F238E27FC236}">
                <a16:creationId xmlns:a16="http://schemas.microsoft.com/office/drawing/2014/main" id="{BB7175F7-6E1C-0417-4802-4CC8B0051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0" y="4001294"/>
            <a:ext cx="4386469" cy="2134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Guangzhou Railway Station: Trains Tickets, Maps, To Airport/ Hong Kong">
            <a:extLst>
              <a:ext uri="{FF2B5EF4-FFF2-40B4-BE49-F238E27FC236}">
                <a16:creationId xmlns:a16="http://schemas.microsoft.com/office/drawing/2014/main" id="{B9F968FF-252A-9C01-535D-6F4F6D110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713" y="3907095"/>
            <a:ext cx="3415673" cy="247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58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18132" y="1835707"/>
            <a:ext cx="10739511" cy="4324525"/>
          </a:xfrm>
        </p:spPr>
        <p:txBody>
          <a:bodyPr/>
          <a:lstStyle/>
          <a:p>
            <a:pPr marL="0" indent="0" algn="just">
              <a:buNone/>
            </a:pPr>
            <a:r>
              <a:rPr lang="en-IN" sz="2800" dirty="0"/>
              <a:t>✅ </a:t>
            </a:r>
            <a:r>
              <a:rPr lang="en-IN" sz="2400" dirty="0">
                <a:latin typeface="New Roman times"/>
              </a:rPr>
              <a:t>Develop an AR-based navigation system for railway stations.</a:t>
            </a:r>
          </a:p>
          <a:p>
            <a:pPr marL="0" indent="0" algn="just">
              <a:buNone/>
            </a:pPr>
            <a:r>
              <a:rPr lang="en-IN" sz="2400" dirty="0">
                <a:latin typeface="New Roman times"/>
              </a:rPr>
              <a:t>✅ Implement </a:t>
            </a:r>
            <a:r>
              <a:rPr lang="en-IN" sz="2400" dirty="0" err="1">
                <a:latin typeface="New Roman times"/>
              </a:rPr>
              <a:t>ARCore</a:t>
            </a:r>
            <a:r>
              <a:rPr lang="en-IN" sz="2400" dirty="0">
                <a:latin typeface="New Roman times"/>
              </a:rPr>
              <a:t> for real-time mapping.</a:t>
            </a:r>
          </a:p>
          <a:p>
            <a:pPr marL="0" indent="0" algn="just">
              <a:buNone/>
            </a:pPr>
            <a:r>
              <a:rPr lang="en-IN" sz="2400" dirty="0">
                <a:latin typeface="New Roman times"/>
              </a:rPr>
              <a:t>✅ Store navigation data dynamically in Firebase.</a:t>
            </a:r>
          </a:p>
          <a:p>
            <a:pPr marL="0" indent="0" algn="just">
              <a:buNone/>
            </a:pPr>
            <a:r>
              <a:rPr lang="en-IN" sz="2400" dirty="0">
                <a:latin typeface="New Roman times"/>
              </a:rPr>
              <a:t>✅ Use A* Algorithm for shortest path computation.</a:t>
            </a:r>
          </a:p>
          <a:p>
            <a:pPr marL="0" indent="0" algn="just">
              <a:buNone/>
            </a:pPr>
            <a:r>
              <a:rPr lang="en-IN" sz="2400" dirty="0">
                <a:latin typeface="New Roman times"/>
              </a:rPr>
              <a:t>✅ Provide an intuitive user experience using Figma.</a:t>
            </a:r>
          </a:p>
          <a:p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9A56000-18E0-5D12-B5D9-1C590151EE41}"/>
              </a:ext>
            </a:extLst>
          </p:cNvPr>
          <p:cNvSpPr/>
          <p:nvPr/>
        </p:nvSpPr>
        <p:spPr>
          <a:xfrm>
            <a:off x="1500050" y="463822"/>
            <a:ext cx="9650436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 Project Objectives</a:t>
            </a:r>
          </a:p>
        </p:txBody>
      </p:sp>
      <p:pic>
        <p:nvPicPr>
          <p:cNvPr id="3074" name="Picture 2" descr="infsoft Indoor Positioning for Railway Stations and Airports">
            <a:extLst>
              <a:ext uri="{FF2B5EF4-FFF2-40B4-BE49-F238E27FC236}">
                <a16:creationId xmlns:a16="http://schemas.microsoft.com/office/drawing/2014/main" id="{99BFD3BD-48C4-3DBC-F709-26847EC83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628" y="2608226"/>
            <a:ext cx="3350240" cy="231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940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6955D4A-B850-E7DE-A1AC-27089DED3A6D}"/>
              </a:ext>
            </a:extLst>
          </p:cNvPr>
          <p:cNvSpPr/>
          <p:nvPr/>
        </p:nvSpPr>
        <p:spPr>
          <a:xfrm>
            <a:off x="1455049" y="423031"/>
            <a:ext cx="9665677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Existing System survey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B28A2CD8-1706-ED47-DB7E-12A10D0882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4718220"/>
              </p:ext>
            </p:extLst>
          </p:nvPr>
        </p:nvGraphicFramePr>
        <p:xfrm>
          <a:off x="838200" y="1748595"/>
          <a:ext cx="10515600" cy="4151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2320094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62061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683074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51703841"/>
                    </a:ext>
                  </a:extLst>
                </a:gridCol>
              </a:tblGrid>
              <a:tr h="83884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Country/Area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Used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891385"/>
                  </a:ext>
                </a:extLst>
              </a:tr>
              <a:tr h="8388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Tokyo Metro AR App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Japan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 Navigation for metro stations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metro, no real-time updates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126426"/>
                  </a:ext>
                </a:extLst>
              </a:tr>
              <a:tr h="163531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Indoor Google Maps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USA, Europe, Japan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GPS, </a:t>
                      </a: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positioning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pre-mapped locations, limited customization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857381"/>
                  </a:ext>
                </a:extLst>
              </a:tr>
              <a:tr h="8388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Navilens</a:t>
                      </a: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(For visually impaired users)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Spain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 Code-Based Navigation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pre-installed QR markers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829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229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9417-DDCA-A3BC-C1C5-E6667C1A8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EA7-07F9-5ECB-A44E-4A029239A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EB16CA30-41C6-8A01-9503-63AE4C05868F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>
            <a:extLst>
              <a:ext uri="{FF2B5EF4-FFF2-40B4-BE49-F238E27FC236}">
                <a16:creationId xmlns:a16="http://schemas.microsoft.com/office/drawing/2014/main" id="{D1C9130A-5AB2-02AB-CD7F-0DFCE7845352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164181-6D6E-0ADF-11D6-4F5745F585D2}"/>
              </a:ext>
            </a:extLst>
          </p:cNvPr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>
              <a:extLst>
                <a:ext uri="{FF2B5EF4-FFF2-40B4-BE49-F238E27FC236}">
                  <a16:creationId xmlns:a16="http://schemas.microsoft.com/office/drawing/2014/main" id="{2FD208AA-D1DE-ED13-B6A4-77A5F1372612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B286FF-BB75-BBE9-C2DB-291B45DA1473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762E802-3530-84E3-3845-118836134CEC}"/>
              </a:ext>
            </a:extLst>
          </p:cNvPr>
          <p:cNvSpPr/>
          <p:nvPr/>
        </p:nvSpPr>
        <p:spPr>
          <a:xfrm>
            <a:off x="1455049" y="423031"/>
            <a:ext cx="9665677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 Literature Survey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8FD43F1-24B1-24E9-D8B7-36CAFAD0E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"Augmented Reality for Indoor Navigation"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Discusses the potential of AR in large transport hubs.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"AI-Powered Navigation for Smart Cities"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Highlights the role of machine learning in optimizing routes.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"Comparison of Indoor Positioning Systems"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Reviews GPS, 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AR-based navigation approaches.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"Enhancing Accessibility Through AR Navigation"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Focuses on AR applications for visually impaired passengers.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3494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75C1CC3-0499-404D-7A3F-179682ACCE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3757059"/>
              </p:ext>
            </p:extLst>
          </p:nvPr>
        </p:nvGraphicFramePr>
        <p:xfrm>
          <a:off x="1420901" y="457200"/>
          <a:ext cx="10515600" cy="5966013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15379330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682140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106812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6119442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559750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53301675"/>
                    </a:ext>
                  </a:extLst>
                </a:gridCol>
              </a:tblGrid>
              <a:tr h="274777">
                <a:tc>
                  <a:txBody>
                    <a:bodyPr/>
                    <a:lstStyle/>
                    <a:p>
                      <a:r>
                        <a:rPr lang="en-IN" sz="1200" b="1" dirty="0"/>
                        <a:t>Criteria</a:t>
                      </a:r>
                      <a:endParaRPr lang="en-IN" sz="12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Firebase</a:t>
                      </a:r>
                      <a:r>
                        <a:rPr lang="en-IN" sz="1200"/>
                        <a:t> ✅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Supabase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AWS Amplify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Appwrite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Backendless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690727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r>
                        <a:rPr lang="en-IN" sz="1200" b="1"/>
                        <a:t>Real-time Sync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Built-in via </a:t>
                      </a:r>
                      <a:r>
                        <a:rPr lang="en-IN" sz="1200" dirty="0" err="1"/>
                        <a:t>Firestore</a:t>
                      </a:r>
                      <a:endParaRPr lang="en-IN" sz="1200" dirty="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 (limited scale)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 (via AppSync)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Limited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294168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r>
                        <a:rPr lang="en-IN" sz="1200" b="1"/>
                        <a:t>Location-Based Queries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Geoqueries via Firestore + GeoFire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Custom setup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Requires AWS Location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Manual + SQL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Built-in GeoLocation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794094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r>
                        <a:rPr lang="en-IN" sz="1200" b="1"/>
                        <a:t>Offline Support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Excellent (Web + Mobile)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Partial (client-driven)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Limited (client cache)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Limited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5895817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r>
                        <a:rPr lang="en-IN" sz="1200" b="1"/>
                        <a:t>AR SDK Integration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Easy with Google </a:t>
                      </a:r>
                      <a:r>
                        <a:rPr lang="en-US" sz="1200" dirty="0" err="1"/>
                        <a:t>ARCore</a:t>
                      </a:r>
                      <a:r>
                        <a:rPr lang="en-US" sz="1200" dirty="0"/>
                        <a:t> &amp; Unity SDKs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 official SDKs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AWS + 3rd party needed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 official support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 native AR SDKs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565210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r>
                        <a:rPr lang="en-IN" sz="1200" b="1"/>
                        <a:t>Hosting &amp; CI/CD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Firebase Hosting + CLI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Basic, or external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Amplify Hosting + CI/CD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Manual Docker deploy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Hosting included (custom)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880121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r>
                        <a:rPr lang="en-IN" sz="1200" b="1"/>
                        <a:t>Authentication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Easy setup + social logins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Good (OAuth, magic)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AWS Cognito (complex)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Decent (custom JWTs)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Yes (custom logic)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017114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r>
                        <a:rPr lang="en-IN" sz="1200" b="1"/>
                        <a:t>Serverless Functions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Cloud Functions (auto-scale)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Edge Functions (Deno)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AWS Lambda (complex)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Node.js (manual scaling)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Codeless or JS functions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925898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r>
                        <a:rPr lang="en-IN" sz="1200" b="1"/>
                        <a:t>Scalability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Google Cloud-backed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Postgres limits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Enterprise-ready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Needs manual scaling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Cloud &amp; limited scale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733968"/>
                  </a:ext>
                </a:extLst>
              </a:tr>
              <a:tr h="661772">
                <a:tc>
                  <a:txBody>
                    <a:bodyPr/>
                    <a:lstStyle/>
                    <a:p>
                      <a:r>
                        <a:rPr lang="en-IN" sz="1200" b="1"/>
                        <a:t>Ease of Setup &amp; Dev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Very fast + Docs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Moderate (DevOps needed)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AWS CLI learning curve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Docker &amp; manual config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Easy (but vendor-specific)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318570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r>
                        <a:rPr lang="en-IN" sz="1200" b="1"/>
                        <a:t>Free Tier / Cost Control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Generous Free Tier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Free but limited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Complex pricing model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Free, but infra cost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Free + pay-as-you-go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5752162"/>
                  </a:ext>
                </a:extLst>
              </a:tr>
              <a:tr h="463240">
                <a:tc>
                  <a:txBody>
                    <a:bodyPr/>
                    <a:lstStyle/>
                    <a:p>
                      <a:r>
                        <a:rPr lang="en-IN" sz="1200" b="1"/>
                        <a:t>Mobile SDKs &amp; AR Focus</a:t>
                      </a:r>
                      <a:endParaRPr lang="en-IN" sz="1200"/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Native SDKs for Android/iOS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Lacks mobile focus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Mobile SDKs via AWS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Limited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Mobile SDKs available</a:t>
                      </a:r>
                    </a:p>
                  </a:txBody>
                  <a:tcPr marL="48348" marR="48348" marT="24174" marB="241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1005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9212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0A5CF6A-8452-F7A1-0E22-200304D84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D58FBA-7C94-7585-E159-E85050734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17" y="1361348"/>
            <a:ext cx="10638183" cy="48640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4DA366-2BA1-6A9C-DBB5-C0E46E7FFC6B}"/>
              </a:ext>
            </a:extLst>
          </p:cNvPr>
          <p:cNvSpPr txBox="1"/>
          <p:nvPr/>
        </p:nvSpPr>
        <p:spPr>
          <a:xfrm>
            <a:off x="1918371" y="654242"/>
            <a:ext cx="4812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Storing one anchor point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76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01B7A21-39A9-09C5-44CD-72D1B73D05A9}"/>
              </a:ext>
            </a:extLst>
          </p:cNvPr>
          <p:cNvSpPr/>
          <p:nvPr/>
        </p:nvSpPr>
        <p:spPr>
          <a:xfrm>
            <a:off x="1284026" y="417643"/>
            <a:ext cx="10007724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Hardware &amp; Software Requirements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EC48B84-445F-E274-C5C6-45F98ACB1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408"/>
            <a:ext cx="10515600" cy="4351338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-supported smartphones 📱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Stable internet connection 🌐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 Studio (Java)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App development 🛠️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Cloud database for storing station maps &amp; user data ☁️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AR-based navigation framework 🏛️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427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DB3FD-C463-3017-40D8-FC347AB60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678B-78B4-20B2-A1C2-6DA0D12EE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3B67517-B5F7-48A9-9246-9754DF8DDDC3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>
            <a:extLst>
              <a:ext uri="{FF2B5EF4-FFF2-40B4-BE49-F238E27FC236}">
                <a16:creationId xmlns:a16="http://schemas.microsoft.com/office/drawing/2014/main" id="{1765EE00-C85F-3D19-0A85-023A298354E3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0CE231-F43A-0BAF-D28B-F033A1E85BEA}"/>
              </a:ext>
            </a:extLst>
          </p:cNvPr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>
              <a:extLst>
                <a:ext uri="{FF2B5EF4-FFF2-40B4-BE49-F238E27FC236}">
                  <a16:creationId xmlns:a16="http://schemas.microsoft.com/office/drawing/2014/main" id="{29AC7CD5-AA44-EE99-DF4A-CF1D088DF6CE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E45EF7A-10BA-BDF0-78A2-0324DA80F78D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26C4C4D-875C-F246-7D86-69F39A8B8FFF}"/>
              </a:ext>
            </a:extLst>
          </p:cNvPr>
          <p:cNvSpPr/>
          <p:nvPr/>
        </p:nvSpPr>
        <p:spPr>
          <a:xfrm>
            <a:off x="1284026" y="478000"/>
            <a:ext cx="10007724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System Design (Flow of the Project)</a:t>
            </a:r>
            <a:endParaRPr lang="en-IN" sz="3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ew Roman time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2CAB24C-2904-4702-01DC-C91B0AA1C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4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1] Mapping (Admin Mode)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 station surfaces using </a:t>
            </a:r>
            <a:r>
              <a:rPr lang="en-IN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 AR anchors at key locations (platforms, exits, ticket counters).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 paths &amp; generate a navigation graph.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Store the map data in Firebase.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810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27885-CB37-33C1-BA78-5F3E132A2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3E33-BFD0-987A-986B-57B55A789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D7D9E95A-DF42-4F67-7496-C43D95BA9399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>
            <a:extLst>
              <a:ext uri="{FF2B5EF4-FFF2-40B4-BE49-F238E27FC236}">
                <a16:creationId xmlns:a16="http://schemas.microsoft.com/office/drawing/2014/main" id="{B124D2BD-B3BF-A819-7620-6ACE98955D19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931FB7-1F13-7D0F-3B84-46EF710F6EE2}"/>
              </a:ext>
            </a:extLst>
          </p:cNvPr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>
              <a:extLst>
                <a:ext uri="{FF2B5EF4-FFF2-40B4-BE49-F238E27FC236}">
                  <a16:creationId xmlns:a16="http://schemas.microsoft.com/office/drawing/2014/main" id="{8BC9AA8A-7EC9-1BC9-3E43-C4FAAA10468D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31FA599-C14C-333E-F9A5-1FC666848C95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A600A71-E394-3623-587B-394FB8CF4020}"/>
              </a:ext>
            </a:extLst>
          </p:cNvPr>
          <p:cNvSpPr/>
          <p:nvPr/>
        </p:nvSpPr>
        <p:spPr>
          <a:xfrm>
            <a:off x="1284026" y="478000"/>
            <a:ext cx="10007724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System Design (Flow of the Project)</a:t>
            </a:r>
            <a:endParaRPr lang="en-IN" sz="3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ew Roman time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AA297D3-6A4F-ADB1-9649-372AFA553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4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2] User Navigation Mode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 stored maps from Firebase.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selects destination.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 the shortest route </a:t>
            </a:r>
            <a:r>
              <a:rPr lang="en-IN" sz="24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sz="2400" i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A* Pathfinding Algorithm</a:t>
            </a:r>
            <a:r>
              <a:rPr lang="en-IN" sz="24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Overlay AR navigation guides on the camera view.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Adjust navigation dynamically if the user deviates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Mangal" panose="02040503050203030202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5386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2ECE1-F044-7E34-6499-A7EB7E368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E4504-8586-9FE9-242F-B2951B891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A23FD50D-CE66-167F-F36D-6889466E4C04}"/>
              </a:ext>
            </a:extLst>
          </p:cNvPr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>
            <a:extLst>
              <a:ext uri="{FF2B5EF4-FFF2-40B4-BE49-F238E27FC236}">
                <a16:creationId xmlns:a16="http://schemas.microsoft.com/office/drawing/2014/main" id="{210BD3AE-3B24-BA81-CF94-95E1B0FE49BE}"/>
              </a:ext>
            </a:extLst>
          </p:cNvPr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56ED994-73A4-7279-BF0C-AE400FD53DA9}"/>
              </a:ext>
            </a:extLst>
          </p:cNvPr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>
              <a:extLst>
                <a:ext uri="{FF2B5EF4-FFF2-40B4-BE49-F238E27FC236}">
                  <a16:creationId xmlns:a16="http://schemas.microsoft.com/office/drawing/2014/main" id="{EBF1500D-221B-5C46-30E0-1661C13484D1}"/>
                </a:ext>
              </a:extLst>
            </p:cNvPr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AEB0465-6086-FBFC-A0D2-398172A5196F}"/>
                </a:ext>
              </a:extLst>
            </p:cNvPr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6497B68-E673-2DF9-3175-3D57A8C7E234}"/>
              </a:ext>
            </a:extLst>
          </p:cNvPr>
          <p:cNvSpPr/>
          <p:nvPr/>
        </p:nvSpPr>
        <p:spPr>
          <a:xfrm>
            <a:off x="1284026" y="478000"/>
            <a:ext cx="10007724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Implementation of Phase 1 </a:t>
            </a:r>
            <a:endParaRPr lang="en-IN" sz="3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ew Roman time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2D9D6CD-E56C-5603-1B74-4D44692D2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840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793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1️⃣ 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ARCore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– Developer Guide</a:t>
            </a:r>
            <a:b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IN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https://developers.google.com/ar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2️⃣ 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Firebase – Cloud Database Documentation</a:t>
            </a:r>
            <a:b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IN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https://firebase.google.com/docs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3️⃣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Pathfinding Algorithm Explanation*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IN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https://theory.stanford.edu/~amitp/GameProgramming/AStarComparison.html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4️⃣ 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Indoor Navigation Research Paper</a:t>
            </a: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(Example Study)</a:t>
            </a:r>
            <a:b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IN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https://www.researchgate.net/publication/329703408_Indoor_Navigation_Systems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5️⃣ </a:t>
            </a: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Android Studio Documentation</a:t>
            </a:r>
            <a:b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🔗 </a:t>
            </a:r>
            <a:r>
              <a:rPr lang="en-IN" sz="24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https://developer.android.com/studio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7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1F5DC37-A2D1-C6FD-A6D7-07CF74D2DBC6}"/>
              </a:ext>
            </a:extLst>
          </p:cNvPr>
          <p:cNvSpPr/>
          <p:nvPr/>
        </p:nvSpPr>
        <p:spPr>
          <a:xfrm>
            <a:off x="1362597" y="516793"/>
            <a:ext cx="9850581" cy="93670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4013760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176950" y="1918186"/>
            <a:ext cx="10121237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well-designed railway station navigation system is crucial for enhancing passenger experience by providing clear, accessible, and real-time information, minimizing confusion and delays, especially in large, complex stations.</a:t>
            </a: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13D8E3EC-B683-3ECD-01C4-368872BEF7B9}"/>
              </a:ext>
            </a:extLst>
          </p:cNvPr>
          <p:cNvSpPr/>
          <p:nvPr/>
        </p:nvSpPr>
        <p:spPr>
          <a:xfrm>
            <a:off x="1500050" y="515592"/>
            <a:ext cx="9299917" cy="8378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ew Roman times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507849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92F96FB-6B1B-25CA-798A-61E47D9ABA36}"/>
              </a:ext>
            </a:extLst>
          </p:cNvPr>
          <p:cNvSpPr/>
          <p:nvPr/>
        </p:nvSpPr>
        <p:spPr>
          <a:xfrm flipH="1">
            <a:off x="2510713" y="2790175"/>
            <a:ext cx="7554350" cy="17846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6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Thank You </a:t>
            </a:r>
            <a:endParaRPr lang="en-IN" sz="6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215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71B9396-38AA-7CE1-18B7-E2B4621FA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459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DD3FF9A-4700-E76B-6897-338D34B79A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049" y="602865"/>
            <a:ext cx="9514953" cy="5652269"/>
          </a:xfrm>
        </p:spPr>
      </p:pic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3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8478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Title – font Times new roman Size -36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Normal text - font Times new roman Size -24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Figure name – Font Times new roman Size -22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: (Continue same format and slide for remaining presentation slides)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484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3219" y="393500"/>
            <a:ext cx="10515600" cy="1325563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rallelogram 6"/>
          <p:cNvSpPr/>
          <p:nvPr/>
        </p:nvSpPr>
        <p:spPr>
          <a:xfrm>
            <a:off x="353292" y="6549091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6"/>
          <p:cNvSpPr/>
          <p:nvPr/>
        </p:nvSpPr>
        <p:spPr>
          <a:xfrm flipV="1">
            <a:off x="588475" y="56697"/>
            <a:ext cx="11398826" cy="259772"/>
          </a:xfrm>
          <a:custGeom>
            <a:avLst/>
            <a:gdLst>
              <a:gd name="connsiteX0" fmla="*/ 0 w 9996055"/>
              <a:gd name="connsiteY0" fmla="*/ 238991 h 238991"/>
              <a:gd name="connsiteX1" fmla="*/ 59748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936307 w 9996055"/>
              <a:gd name="connsiteY3" fmla="*/ 238991 h 238991"/>
              <a:gd name="connsiteX4" fmla="*/ 0 w 9996055"/>
              <a:gd name="connsiteY4" fmla="*/ 238991 h 238991"/>
              <a:gd name="connsiteX0" fmla="*/ 0 w 9996055"/>
              <a:gd name="connsiteY0" fmla="*/ 238991 h 238991"/>
              <a:gd name="connsiteX1" fmla="*/ 527339 w 9996055"/>
              <a:gd name="connsiteY1" fmla="*/ 0 h 238991"/>
              <a:gd name="connsiteX2" fmla="*/ 9996055 w 9996055"/>
              <a:gd name="connsiteY2" fmla="*/ 0 h 238991"/>
              <a:gd name="connsiteX3" fmla="*/ 9541453 w 9996055"/>
              <a:gd name="connsiteY3" fmla="*/ 238991 h 238991"/>
              <a:gd name="connsiteX4" fmla="*/ 0 w 9996055"/>
              <a:gd name="connsiteY4" fmla="*/ 238991 h 238991"/>
              <a:gd name="connsiteX0" fmla="*/ 12988 w 10009043"/>
              <a:gd name="connsiteY0" fmla="*/ 238991 h 238991"/>
              <a:gd name="connsiteX1" fmla="*/ 0 w 10009043"/>
              <a:gd name="connsiteY1" fmla="*/ 10391 h 238991"/>
              <a:gd name="connsiteX2" fmla="*/ 10009043 w 10009043"/>
              <a:gd name="connsiteY2" fmla="*/ 0 h 238991"/>
              <a:gd name="connsiteX3" fmla="*/ 9554441 w 10009043"/>
              <a:gd name="connsiteY3" fmla="*/ 238991 h 238991"/>
              <a:gd name="connsiteX4" fmla="*/ 12988 w 10009043"/>
              <a:gd name="connsiteY4" fmla="*/ 238991 h 238991"/>
              <a:gd name="connsiteX0" fmla="*/ 519208 w 10009043"/>
              <a:gd name="connsiteY0" fmla="*/ 259772 h 259772"/>
              <a:gd name="connsiteX1" fmla="*/ 0 w 10009043"/>
              <a:gd name="connsiteY1" fmla="*/ 10391 h 259772"/>
              <a:gd name="connsiteX2" fmla="*/ 10009043 w 10009043"/>
              <a:gd name="connsiteY2" fmla="*/ 0 h 259772"/>
              <a:gd name="connsiteX3" fmla="*/ 9554441 w 10009043"/>
              <a:gd name="connsiteY3" fmla="*/ 238991 h 259772"/>
              <a:gd name="connsiteX4" fmla="*/ 519208 w 10009043"/>
              <a:gd name="connsiteY4" fmla="*/ 259772 h 259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9043" h="259772">
                <a:moveTo>
                  <a:pt x="519208" y="259772"/>
                </a:moveTo>
                <a:lnTo>
                  <a:pt x="0" y="10391"/>
                </a:lnTo>
                <a:lnTo>
                  <a:pt x="10009043" y="0"/>
                </a:lnTo>
                <a:lnTo>
                  <a:pt x="9554441" y="238991"/>
                </a:lnTo>
                <a:lnTo>
                  <a:pt x="519208" y="259772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25553"/>
            <a:ext cx="1180119" cy="1304651"/>
            <a:chOff x="5449281" y="2761932"/>
            <a:chExt cx="1289974" cy="1334135"/>
          </a:xfrm>
        </p:grpSpPr>
        <p:sp>
          <p:nvSpPr>
            <p:cNvPr id="4" name="Shape 454"/>
            <p:cNvSpPr/>
            <p:nvPr/>
          </p:nvSpPr>
          <p:spPr>
            <a:xfrm>
              <a:off x="5452745" y="2761932"/>
              <a:ext cx="1286510" cy="1334135"/>
            </a:xfrm>
            <a:custGeom>
              <a:avLst/>
              <a:gdLst/>
              <a:ahLst/>
              <a:cxnLst/>
              <a:rect l="0" t="0" r="0" b="0"/>
              <a:pathLst>
                <a:path w="1286905" h="1334619">
                  <a:moveTo>
                    <a:pt x="0" y="0"/>
                  </a:moveTo>
                  <a:lnTo>
                    <a:pt x="1286905" y="0"/>
                  </a:lnTo>
                  <a:lnTo>
                    <a:pt x="1286905" y="1334619"/>
                  </a:lnTo>
                  <a:lnTo>
                    <a:pt x="0" y="1334619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292929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US"/>
            </a:p>
          </p:txBody>
        </p:sp>
        <p:pic>
          <p:nvPicPr>
            <p:cNvPr id="5" name="Picture 4"/>
            <p:cNvPicPr/>
            <p:nvPr/>
          </p:nvPicPr>
          <p:blipFill rotWithShape="1">
            <a:blip r:embed="rId2"/>
            <a:srcRect l="3435" t="5682" r="9680" b="18466"/>
            <a:stretch/>
          </p:blipFill>
          <p:spPr>
            <a:xfrm>
              <a:off x="5449281" y="2761932"/>
              <a:ext cx="1286510" cy="13341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3218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</TotalTime>
  <Words>957</Words>
  <Application>Microsoft Office PowerPoint</Application>
  <PresentationFormat>Widescreen</PresentationFormat>
  <Paragraphs>180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Ajile</vt:lpstr>
      <vt:lpstr>Arial</vt:lpstr>
      <vt:lpstr>Arial Black</vt:lpstr>
      <vt:lpstr>Calibri</vt:lpstr>
      <vt:lpstr>Calibri Light</vt:lpstr>
      <vt:lpstr>Cambria</vt:lpstr>
      <vt:lpstr>New Roman times</vt:lpstr>
      <vt:lpstr>Symbol</vt:lpstr>
      <vt:lpstr>Times New Roman</vt:lpstr>
      <vt:lpstr>Wingdings</vt:lpstr>
      <vt:lpstr>Office Theme</vt:lpstr>
      <vt:lpstr>PowerPoint Presentation</vt:lpstr>
      <vt:lpstr>Outline </vt:lpstr>
      <vt:lpstr> </vt:lpstr>
      <vt:lpstr> </vt:lpstr>
      <vt:lpstr> </vt:lpstr>
      <vt:lpstr> </vt:lpstr>
      <vt:lpstr>PowerPoint Presentation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RCPIT</dc:creator>
  <cp:lastModifiedBy>Nomesh Kirange</cp:lastModifiedBy>
  <cp:revision>24</cp:revision>
  <dcterms:created xsi:type="dcterms:W3CDTF">2023-11-04T09:41:24Z</dcterms:created>
  <dcterms:modified xsi:type="dcterms:W3CDTF">2025-05-02T06:37:14Z</dcterms:modified>
</cp:coreProperties>
</file>